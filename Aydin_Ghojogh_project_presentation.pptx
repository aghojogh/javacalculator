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sldIdLst>
    <p:sldId id="256" r:id="rId2"/>
    <p:sldId id="272" r:id="rId3"/>
    <p:sldId id="258" r:id="rId4"/>
    <p:sldId id="257" r:id="rId5"/>
    <p:sldId id="259" r:id="rId6"/>
    <p:sldId id="260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2" r:id="rId15"/>
    <p:sldId id="269" r:id="rId16"/>
    <p:sldId id="27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EBD74C8-6475-4C71-8B6F-678192505EEE}" v="4" dt="2025-03-27T14:35:00.6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D1393-4104-9371-94FF-2DAF56C9A9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83CBC7-004D-1955-7C77-6C0ADF7406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B41BD4-010D-29C0-9445-DFEF3ABA5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B3B7F-273E-46EB-A785-92C7D76259B9}" type="datetimeFigureOut">
              <a:rPr lang="en-CA" smtClean="0"/>
              <a:t>2025-03-27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32B8F7-D9CA-86C6-AC08-89C966A35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090817-4463-B854-BB15-F2E968C3F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FB6CC-D25A-4644-BC8E-0ED729CE0A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06270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67AD0-30C1-F94D-5A95-86F68B113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C4C27B-B018-2407-A7C8-20CFEBC2B3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353513-F2A1-DB92-726B-07F7EEF0F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B3B7F-273E-46EB-A785-92C7D76259B9}" type="datetimeFigureOut">
              <a:rPr lang="en-CA" smtClean="0"/>
              <a:t>2025-03-27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A8C234-1630-B8CE-9744-408593DB0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479C92-4A20-7037-2C69-8D7FA2259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FB6CC-D25A-4644-BC8E-0ED729CE0A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36428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6D837-64E8-549C-EA11-CA7B53DD9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D2298A-476D-E10D-A4A0-5752A4254B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A55A-CF04-4932-363F-D7237E9ED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B3B7F-273E-46EB-A785-92C7D76259B9}" type="datetimeFigureOut">
              <a:rPr lang="en-CA" smtClean="0"/>
              <a:t>2025-03-27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BE44BA-270A-6D82-1EB8-00834188B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8B434-1ACD-F150-371F-3C325195D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FB6CC-D25A-4644-BC8E-0ED729CE0A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8959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379B4-EB6C-BDD0-93F2-7CE2BAB1A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396C50-B2D5-DC33-833E-1B458426B4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362121-219B-296B-26AF-262DA30F2B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433374-1524-2C00-F77A-A2CB2FC8F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B3B7F-273E-46EB-A785-92C7D76259B9}" type="datetimeFigureOut">
              <a:rPr lang="en-CA" smtClean="0"/>
              <a:t>2025-03-27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258E72-E9D1-855A-E76F-BDE4A71DE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E0F5EF-F7A9-85D3-5D75-ECA25FD29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FB6CC-D25A-4644-BC8E-0ED729CE0A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98551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B1B9C-425F-70E4-1C10-F36163D48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D064EF-2FB4-4036-314B-4038F61590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D72531-6625-C508-CB09-E984208CF5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2B4F39-BE9F-F012-2387-50AEC4F417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3EAC41-66B8-8173-C560-D48048EEC3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AA4F45-B579-1447-2903-B6D0052BB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B3B7F-273E-46EB-A785-92C7D76259B9}" type="datetimeFigureOut">
              <a:rPr lang="en-CA" smtClean="0"/>
              <a:t>2025-03-27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EF52A8-C248-68D2-BEE4-C9E23CB53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90217B-5FCD-852E-DB50-16B9066D3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FB6CC-D25A-4644-BC8E-0ED729CE0A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51875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AA1F7-DB57-2915-3558-335B37E99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49E050-BB4D-3F89-C8E4-BA6583DA3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B3B7F-273E-46EB-A785-92C7D76259B9}" type="datetimeFigureOut">
              <a:rPr lang="en-CA" smtClean="0"/>
              <a:t>2025-03-27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A85283-F78E-BADA-3DE0-5553A02A7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144DC1-86F2-228E-764D-860AFF157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FB6CC-D25A-4644-BC8E-0ED729CE0A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04441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C4595B-9461-0C76-D1D0-56DFEAE31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B3B7F-273E-46EB-A785-92C7D76259B9}" type="datetimeFigureOut">
              <a:rPr lang="en-CA" smtClean="0"/>
              <a:t>2025-03-27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9E8322-AFAA-5AD8-2E37-3B3A71345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40C9BB-3A92-D1F9-D729-6CE763BCF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FB6CC-D25A-4644-BC8E-0ED729CE0A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56369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F3FE9-A459-0925-68A5-DBAD8B67B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2BD3D-4A24-338E-9AC6-30625743D7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EBB509-07A4-97E9-219C-1249676351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D04EA4-5B82-9D78-8454-E1FBC452D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B3B7F-273E-46EB-A785-92C7D76259B9}" type="datetimeFigureOut">
              <a:rPr lang="en-CA" smtClean="0"/>
              <a:t>2025-03-27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7C0FE2-9C9E-DFA7-356E-E47FB573B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CFF994-FE99-BF79-881F-854614F3B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FB6CC-D25A-4644-BC8E-0ED729CE0A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42920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D8557-4FD2-3AE4-0570-D08E4E118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B7A594-2DFC-ABB3-6472-75D98EE35E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AF110A-B087-6A4E-F0B8-12605DCDB1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974F4C-CE1F-D6CD-3D9B-B5FE164ED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B3B7F-273E-46EB-A785-92C7D76259B9}" type="datetimeFigureOut">
              <a:rPr lang="en-CA" smtClean="0"/>
              <a:t>2025-03-27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23351C-BC2B-7962-70FB-621CE6E19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70CEB4-06CE-9B1E-2C7D-6C193145D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FB6CC-D25A-4644-BC8E-0ED729CE0A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62338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6EEC8-FE8B-3273-1044-5EEF1A7A4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C1DAB1-A2A3-0254-679F-170BE538D0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DD7F0C-47B7-7D77-4C52-9AEFD8EED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B3B7F-273E-46EB-A785-92C7D76259B9}" type="datetimeFigureOut">
              <a:rPr lang="en-CA" smtClean="0"/>
              <a:t>2025-03-27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7939D0-F473-4B85-B8B4-050D2740A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55DAAC-1A48-08D4-8C60-8A811E12C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FB6CC-D25A-4644-BC8E-0ED729CE0A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27528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9AD9BC-CE58-BA7B-4112-0E5741AB32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07630B-9546-DAE1-A118-E25A22E9C7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4D6540-3AB4-D8DF-A51D-ECE9FA847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B3B7F-273E-46EB-A785-92C7D76259B9}" type="datetimeFigureOut">
              <a:rPr lang="en-CA" smtClean="0"/>
              <a:t>2025-03-27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59EB6F-2F8F-1CA3-C9E3-E45231C7B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7AFEBD-F31D-AAC0-F2CE-AFF658CE4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FB6CC-D25A-4644-BC8E-0ED729CE0A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58052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BAF13C-F5F6-85E6-2446-DD6DA6C9B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D833F6-AB1D-7E46-2278-6FF26790E5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FEFC52-48E9-31CC-C97A-1E393E1636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4B3B7F-273E-46EB-A785-92C7D76259B9}" type="datetimeFigureOut">
              <a:rPr lang="en-CA" smtClean="0"/>
              <a:t>2025-03-27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4E42D2-7A91-9027-8455-33557EF655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DFAC65-D945-04E7-15FF-74BC174C93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8FB6CC-D25A-4644-BC8E-0ED729CE0A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06658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3.png"/><Relationship Id="rId2" Type="http://schemas.openxmlformats.org/officeDocument/2006/relationships/hyperlink" Target="https://www.flaticon.com/free-icons/finance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1.png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1D525-DFBB-9134-FC19-67AE594795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68362"/>
            <a:ext cx="9144000" cy="2387600"/>
          </a:xfrm>
        </p:spPr>
        <p:txBody>
          <a:bodyPr/>
          <a:lstStyle/>
          <a:p>
            <a:r>
              <a:rPr lang="en-CA" dirty="0"/>
              <a:t>Retail Price Calculator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FE5F2C-5C26-B60A-1EA3-03F59F1F90A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CA" dirty="0"/>
              <a:t>The course project of (2025W) Object-Oriented Programming-2477-WA</a:t>
            </a:r>
          </a:p>
          <a:p>
            <a:r>
              <a:rPr lang="en-CA" dirty="0"/>
              <a:t>Professor: Dr. Jinan </a:t>
            </a:r>
            <a:r>
              <a:rPr lang="en-CA" dirty="0" err="1"/>
              <a:t>Fiaidhi</a:t>
            </a:r>
            <a:endParaRPr lang="en-CA" dirty="0"/>
          </a:p>
          <a:p>
            <a:r>
              <a:rPr lang="en-CA" dirty="0"/>
              <a:t>Student: Aydin Ghojogh</a:t>
            </a:r>
          </a:p>
          <a:p>
            <a:r>
              <a:rPr lang="en-CA" dirty="0"/>
              <a:t>Student ID: 1166949</a:t>
            </a:r>
          </a:p>
        </p:txBody>
      </p:sp>
    </p:spTree>
    <p:extLst>
      <p:ext uri="{BB962C8B-B14F-4D97-AF65-F5344CB8AC3E}">
        <p14:creationId xmlns:p14="http://schemas.microsoft.com/office/powerpoint/2010/main" val="23425842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7C3B0-B41B-CC66-94C2-C168A6315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4B46A-6906-C0A4-BA9E-3F1AE01386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1704" y="1005840"/>
            <a:ext cx="9144000" cy="1043114"/>
          </a:xfrm>
        </p:spPr>
        <p:txBody>
          <a:bodyPr/>
          <a:lstStyle/>
          <a:p>
            <a:r>
              <a:rPr lang="en-US" dirty="0"/>
              <a:t>Question of the project: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E415C1-AF4E-B221-B386-86DAF7C5C2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32191"/>
            <a:ext cx="9144000" cy="2276856"/>
          </a:xfrm>
        </p:spPr>
        <p:txBody>
          <a:bodyPr>
            <a:normAutofit fontScale="55000" lnSpcReduction="20000"/>
          </a:bodyPr>
          <a:lstStyle/>
          <a:p>
            <a:pPr algn="l"/>
            <a:endParaRPr lang="en-US" dirty="0"/>
          </a:p>
          <a:p>
            <a:pPr algn="l"/>
            <a:endParaRPr lang="en-US" dirty="0"/>
          </a:p>
          <a:p>
            <a:pPr algn="l">
              <a:lnSpc>
                <a:spcPct val="220000"/>
              </a:lnSpc>
            </a:pPr>
            <a:r>
              <a:rPr lang="en-US" dirty="0"/>
              <a:t>Create a GUI application where the user enters the wholesale cost of an item and its markup percentage into text fields. (For example, if an item’s wholesale cost is $5 and its markup percentage is 100 percent, then its retail price is $10.) The application should have a button that displays the item’s retail price when clicked. Create the GUI programmatically. Do not use FXML.</a:t>
            </a:r>
          </a:p>
        </p:txBody>
      </p:sp>
    </p:spTree>
    <p:extLst>
      <p:ext uri="{BB962C8B-B14F-4D97-AF65-F5344CB8AC3E}">
        <p14:creationId xmlns:p14="http://schemas.microsoft.com/office/powerpoint/2010/main" val="565073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D3B9E-080B-D331-9B81-54F7FCFC4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1DC630-E495-1766-350D-8BD6A9A4FD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738948"/>
          </a:xfrm>
        </p:spPr>
        <p:txBody>
          <a:bodyPr>
            <a:normAutofit fontScale="77500" lnSpcReduction="20000"/>
          </a:bodyPr>
          <a:lstStyle/>
          <a:p>
            <a:r>
              <a:rPr lang="en-CA" dirty="0"/>
              <a:t>The final GUI appearance </a:t>
            </a:r>
          </a:p>
          <a:p>
            <a:r>
              <a:rPr lang="en-CA" dirty="0"/>
              <a:t>Creating the class</a:t>
            </a:r>
          </a:p>
          <a:p>
            <a:r>
              <a:rPr lang="en-CA" dirty="0"/>
              <a:t>Overriding the method</a:t>
            </a:r>
          </a:p>
          <a:p>
            <a:r>
              <a:rPr lang="en-CA" dirty="0"/>
              <a:t>Label and text field for wholesale</a:t>
            </a:r>
          </a:p>
          <a:p>
            <a:r>
              <a:rPr lang="en-CA" dirty="0"/>
              <a:t>Label and text field for markup</a:t>
            </a:r>
          </a:p>
          <a:p>
            <a:r>
              <a:rPr lang="en-CA" dirty="0"/>
              <a:t>Button for calculate</a:t>
            </a:r>
          </a:p>
          <a:p>
            <a:r>
              <a:rPr lang="en-CA" dirty="0"/>
              <a:t>Label for result of calculation (retail price)</a:t>
            </a:r>
          </a:p>
          <a:p>
            <a:r>
              <a:rPr lang="en-CA" dirty="0"/>
              <a:t>Layout of GUI</a:t>
            </a:r>
          </a:p>
          <a:p>
            <a:r>
              <a:rPr lang="en-CA" dirty="0"/>
              <a:t>Size and title of window</a:t>
            </a:r>
          </a:p>
          <a:p>
            <a:r>
              <a:rPr lang="en-CA" dirty="0"/>
              <a:t>Icon for the window</a:t>
            </a:r>
          </a:p>
          <a:p>
            <a:r>
              <a:rPr lang="en-CA" dirty="0"/>
              <a:t>Event handling for the button</a:t>
            </a:r>
          </a:p>
          <a:p>
            <a:r>
              <a:rPr lang="en-CA" dirty="0"/>
              <a:t>Main for running the code</a:t>
            </a:r>
          </a:p>
          <a:p>
            <a:r>
              <a:rPr lang="en-CA" dirty="0"/>
              <a:t>A few example runs of the program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1935292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C96DF-2B63-7957-43BB-09ACAE555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The final GUI appearance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224877-50EE-1813-FFEB-B89CEFF9D2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The final GUI appearance that I made is shown here.</a:t>
            </a:r>
          </a:p>
          <a:p>
            <a:r>
              <a:rPr lang="en-CA" dirty="0"/>
              <a:t>In the next slides, I explain the code which resulted in this GUI.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3E109A-DECE-9525-E637-F167C51726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3095" y="3167138"/>
            <a:ext cx="3754229" cy="3077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0542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1CADD-9CCE-79E5-E53A-AE6B572E1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Creating the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049089-F6F4-9A17-4E59-E6A1D028F9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Importing the class </a:t>
            </a:r>
            <a:r>
              <a:rPr lang="en-CA" dirty="0">
                <a:solidFill>
                  <a:srgbClr val="00B050"/>
                </a:solidFill>
              </a:rPr>
              <a:t>Application</a:t>
            </a:r>
            <a:r>
              <a:rPr lang="en-CA" dirty="0"/>
              <a:t> from </a:t>
            </a:r>
            <a:r>
              <a:rPr lang="en-CA" dirty="0" err="1"/>
              <a:t>javafx.application</a:t>
            </a:r>
            <a:endParaRPr lang="en-CA" dirty="0"/>
          </a:p>
          <a:p>
            <a:endParaRPr lang="en-CA" dirty="0"/>
          </a:p>
          <a:p>
            <a:endParaRPr lang="en-CA" dirty="0"/>
          </a:p>
          <a:p>
            <a:r>
              <a:rPr lang="en-CA" dirty="0"/>
              <a:t>Creating the class </a:t>
            </a:r>
            <a:r>
              <a:rPr lang="en-CA" dirty="0" err="1">
                <a:solidFill>
                  <a:srgbClr val="00B050"/>
                </a:solidFill>
              </a:rPr>
              <a:t>RetailPriceCalculator</a:t>
            </a:r>
            <a:r>
              <a:rPr lang="en-CA" dirty="0"/>
              <a:t> which inherits from the class </a:t>
            </a:r>
            <a:r>
              <a:rPr lang="en-CA" dirty="0">
                <a:solidFill>
                  <a:srgbClr val="00B050"/>
                </a:solidFill>
              </a:rPr>
              <a:t>Application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8B4E372-F1F4-2C84-39D9-9BFEF111F8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376" y="4487510"/>
            <a:ext cx="6650723" cy="3653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5C7C6EE-2EED-6DF4-EAEF-7D8E4EF721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376" y="2706522"/>
            <a:ext cx="5067840" cy="311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7922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CB799-598E-0296-2596-28D7D8E4F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Overriding the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CC14D-828A-CD67-154D-D1C1D51907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Overriding the method </a:t>
            </a:r>
            <a:r>
              <a:rPr lang="en-CA" dirty="0">
                <a:solidFill>
                  <a:srgbClr val="00B050"/>
                </a:solidFill>
              </a:rPr>
              <a:t>start() </a:t>
            </a:r>
            <a:r>
              <a:rPr lang="en-CA" dirty="0"/>
              <a:t>in the class </a:t>
            </a:r>
            <a:r>
              <a:rPr lang="en-CA" dirty="0">
                <a:solidFill>
                  <a:srgbClr val="00B050"/>
                </a:solidFill>
              </a:rPr>
              <a:t>Application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06E155-6A19-8A55-5FF4-16BEC2CA88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097" y="3073700"/>
            <a:ext cx="3505241" cy="5036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8E5AC7A-066F-6020-06A0-27DE026DB6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097" y="2710131"/>
            <a:ext cx="2791215" cy="22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1413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BB015-223C-68D2-4428-93DFC34D0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Label and text field for wholesale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2F6D0-8736-52C1-7735-E2E778AC9B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Creating the </a:t>
            </a:r>
            <a:r>
              <a:rPr lang="en-CA" dirty="0">
                <a:solidFill>
                  <a:srgbClr val="00B050"/>
                </a:solidFill>
              </a:rPr>
              <a:t>label</a:t>
            </a:r>
            <a:r>
              <a:rPr lang="en-CA" dirty="0"/>
              <a:t> and </a:t>
            </a:r>
            <a:r>
              <a:rPr lang="en-CA" dirty="0">
                <a:solidFill>
                  <a:srgbClr val="00B050"/>
                </a:solidFill>
              </a:rPr>
              <a:t>text field </a:t>
            </a:r>
            <a:r>
              <a:rPr lang="en-CA" dirty="0"/>
              <a:t>for </a:t>
            </a:r>
            <a:r>
              <a:rPr lang="en-CA" u="sng" dirty="0"/>
              <a:t>wholesale</a:t>
            </a:r>
            <a:r>
              <a:rPr lang="en-CA" dirty="0"/>
              <a:t>:</a:t>
            </a:r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r>
              <a:rPr lang="en-CA" dirty="0"/>
              <a:t>Result: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EEF5BC-463E-3E83-9B9A-C341C2B407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782" y="3034362"/>
            <a:ext cx="6125430" cy="7240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AC1FA77-59BC-2AE2-13E6-C598E6B44D3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384" b="60087"/>
          <a:stretch/>
        </p:blipFill>
        <p:spPr>
          <a:xfrm>
            <a:off x="1084782" y="4744824"/>
            <a:ext cx="3754219" cy="724000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798C6E1-9458-A348-EB36-22543AD61920}"/>
              </a:ext>
            </a:extLst>
          </p:cNvPr>
          <p:cNvCxnSpPr/>
          <p:nvPr/>
        </p:nvCxnSpPr>
        <p:spPr>
          <a:xfrm flipV="1">
            <a:off x="2756848" y="4879075"/>
            <a:ext cx="3166280" cy="614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94E20A6-EF17-495B-D9C3-D4B19FD392DF}"/>
              </a:ext>
            </a:extLst>
          </p:cNvPr>
          <p:cNvCxnSpPr>
            <a:cxnSpLocks/>
          </p:cNvCxnSpPr>
          <p:nvPr/>
        </p:nvCxnSpPr>
        <p:spPr>
          <a:xfrm>
            <a:off x="4668198" y="5263852"/>
            <a:ext cx="125493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3896DE4-C185-167D-F5BE-B11D31210FF1}"/>
              </a:ext>
            </a:extLst>
          </p:cNvPr>
          <p:cNvSpPr txBox="1"/>
          <p:nvPr/>
        </p:nvSpPr>
        <p:spPr>
          <a:xfrm>
            <a:off x="5950845" y="4694409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label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D8251B3-11B6-093B-5212-1CD6DDDDBF89}"/>
              </a:ext>
            </a:extLst>
          </p:cNvPr>
          <p:cNvSpPr txBox="1"/>
          <p:nvPr/>
        </p:nvSpPr>
        <p:spPr>
          <a:xfrm>
            <a:off x="5961829" y="5066354"/>
            <a:ext cx="10360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text field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0DE0401-8FF3-502E-3435-4A9605880C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4782" y="2410784"/>
            <a:ext cx="4010585" cy="495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647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3FE14C-957C-904B-2FB6-511911840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4F505-9DA0-212F-4983-9D37FD3AF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Label and text field for markup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A48A1D-4114-944B-D61F-5F53497847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Creating the </a:t>
            </a:r>
            <a:r>
              <a:rPr lang="en-CA" dirty="0">
                <a:solidFill>
                  <a:srgbClr val="00B050"/>
                </a:solidFill>
              </a:rPr>
              <a:t>label</a:t>
            </a:r>
            <a:r>
              <a:rPr lang="en-CA" dirty="0"/>
              <a:t> and </a:t>
            </a:r>
            <a:r>
              <a:rPr lang="en-CA" dirty="0">
                <a:solidFill>
                  <a:srgbClr val="00B050"/>
                </a:solidFill>
              </a:rPr>
              <a:t>text field </a:t>
            </a:r>
            <a:r>
              <a:rPr lang="en-CA" dirty="0"/>
              <a:t>for </a:t>
            </a:r>
            <a:r>
              <a:rPr lang="en-CA" u="sng" dirty="0"/>
              <a:t>markup</a:t>
            </a:r>
            <a:r>
              <a:rPr lang="en-CA" dirty="0"/>
              <a:t>:</a:t>
            </a:r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r>
              <a:rPr lang="en-CA" dirty="0"/>
              <a:t>Result: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54397A-E8D1-CC9A-9683-BB2EB8FF56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8561" b="37910"/>
          <a:stretch/>
        </p:blipFill>
        <p:spPr>
          <a:xfrm>
            <a:off x="1084782" y="4587874"/>
            <a:ext cx="3754219" cy="724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52D5DD6-4C11-800B-D53F-2861FD561E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782" y="2647841"/>
            <a:ext cx="6134956" cy="781159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6D3811C-6BBE-2A17-AA9E-41F68AE4F511}"/>
              </a:ext>
            </a:extLst>
          </p:cNvPr>
          <p:cNvCxnSpPr/>
          <p:nvPr/>
        </p:nvCxnSpPr>
        <p:spPr>
          <a:xfrm flipV="1">
            <a:off x="3111967" y="4663175"/>
            <a:ext cx="3166280" cy="614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24A8963-22C0-C6BE-FA8E-C95FB0589960}"/>
              </a:ext>
            </a:extLst>
          </p:cNvPr>
          <p:cNvCxnSpPr>
            <a:cxnSpLocks/>
          </p:cNvCxnSpPr>
          <p:nvPr/>
        </p:nvCxnSpPr>
        <p:spPr>
          <a:xfrm>
            <a:off x="4686300" y="5047952"/>
            <a:ext cx="159194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1193443-C478-CA59-5393-A637E55ED46E}"/>
              </a:ext>
            </a:extLst>
          </p:cNvPr>
          <p:cNvSpPr txBox="1"/>
          <p:nvPr/>
        </p:nvSpPr>
        <p:spPr>
          <a:xfrm>
            <a:off x="6305964" y="4478509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label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6869C6-0ED0-0F4A-C2FB-1BF3495F9744}"/>
              </a:ext>
            </a:extLst>
          </p:cNvPr>
          <p:cNvSpPr txBox="1"/>
          <p:nvPr/>
        </p:nvSpPr>
        <p:spPr>
          <a:xfrm>
            <a:off x="6316948" y="4850454"/>
            <a:ext cx="10360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text field</a:t>
            </a:r>
          </a:p>
        </p:txBody>
      </p:sp>
    </p:spTree>
    <p:extLst>
      <p:ext uri="{BB962C8B-B14F-4D97-AF65-F5344CB8AC3E}">
        <p14:creationId xmlns:p14="http://schemas.microsoft.com/office/powerpoint/2010/main" val="32080186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90DA3-A1CC-2C4C-F2A1-7ABD2A819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CBCF-B82A-E7AA-A9B9-6DE356011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Button for calculate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373C81-22B6-6814-1C0A-0CBE928E9F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Creating the </a:t>
            </a:r>
            <a:r>
              <a:rPr lang="en-CA" dirty="0">
                <a:solidFill>
                  <a:srgbClr val="00B050"/>
                </a:solidFill>
              </a:rPr>
              <a:t>button</a:t>
            </a:r>
            <a:r>
              <a:rPr lang="en-CA" dirty="0"/>
              <a:t> for </a:t>
            </a:r>
            <a:r>
              <a:rPr lang="en-CA" u="sng" dirty="0"/>
              <a:t>calculate</a:t>
            </a:r>
            <a:r>
              <a:rPr lang="en-CA" dirty="0"/>
              <a:t>:</a:t>
            </a:r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r>
              <a:rPr lang="en-CA" dirty="0"/>
              <a:t>Result: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8E153D-445E-B2E8-75E4-8A3024B5E6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1191" b="15280"/>
          <a:stretch/>
        </p:blipFill>
        <p:spPr>
          <a:xfrm>
            <a:off x="1084782" y="4587874"/>
            <a:ext cx="3754219" cy="724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63338F0-FE55-89A6-09F5-1AEDEA8564F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0632"/>
          <a:stretch/>
        </p:blipFill>
        <p:spPr>
          <a:xfrm>
            <a:off x="1104680" y="2890182"/>
            <a:ext cx="6351038" cy="502224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ADADBC4-AB15-7F43-72D0-36DD7A444888}"/>
              </a:ext>
            </a:extLst>
          </p:cNvPr>
          <p:cNvCxnSpPr/>
          <p:nvPr/>
        </p:nvCxnSpPr>
        <p:spPr>
          <a:xfrm flipV="1">
            <a:off x="2927651" y="4845843"/>
            <a:ext cx="3166280" cy="614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DF39308-F35C-0FDA-0CED-94725FCE3622}"/>
              </a:ext>
            </a:extLst>
          </p:cNvPr>
          <p:cNvSpPr txBox="1"/>
          <p:nvPr/>
        </p:nvSpPr>
        <p:spPr>
          <a:xfrm>
            <a:off x="6121648" y="4661177"/>
            <a:ext cx="845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button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687136F-1709-CF36-7A88-FB428E2937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4680" y="2513512"/>
            <a:ext cx="3734321" cy="247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9196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5A81BE-C9FA-9E8D-D4C5-E72B67AA3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84CC6-1603-B1A6-736A-01F13D32F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Label for result of calculation (retail price)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83946-4B40-E3DF-6E49-B7F5E4E504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Creating the </a:t>
            </a:r>
            <a:r>
              <a:rPr lang="en-CA" dirty="0">
                <a:solidFill>
                  <a:srgbClr val="00B050"/>
                </a:solidFill>
              </a:rPr>
              <a:t>label</a:t>
            </a:r>
            <a:r>
              <a:rPr lang="en-CA" dirty="0"/>
              <a:t> for </a:t>
            </a:r>
            <a:r>
              <a:rPr lang="en-CA" u="sng" dirty="0"/>
              <a:t>retail price (result of calculation)</a:t>
            </a:r>
            <a:r>
              <a:rPr lang="en-CA" dirty="0"/>
              <a:t>:</a:t>
            </a:r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r>
              <a:rPr lang="en-CA" dirty="0"/>
              <a:t>Result: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36F8AE-5C70-1A1E-BAB7-15DEE6B1F3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1191" b="1181"/>
          <a:stretch/>
        </p:blipFill>
        <p:spPr>
          <a:xfrm>
            <a:off x="1084782" y="4587873"/>
            <a:ext cx="3754219" cy="11578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2C72FC0-B16E-042B-73A3-26C18D8168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782" y="2798537"/>
            <a:ext cx="5401429" cy="52394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2FF832F-241F-5ED7-BCEF-66F3ED769961}"/>
              </a:ext>
            </a:extLst>
          </p:cNvPr>
          <p:cNvSpPr/>
          <p:nvPr/>
        </p:nvSpPr>
        <p:spPr>
          <a:xfrm>
            <a:off x="1364776" y="5138382"/>
            <a:ext cx="2286000" cy="429905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35D1BBF-1C88-1D35-0184-A8779D073B74}"/>
              </a:ext>
            </a:extLst>
          </p:cNvPr>
          <p:cNvCxnSpPr>
            <a:cxnSpLocks/>
          </p:cNvCxnSpPr>
          <p:nvPr/>
        </p:nvCxnSpPr>
        <p:spPr>
          <a:xfrm>
            <a:off x="3650776" y="5353334"/>
            <a:ext cx="219122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CB00321-0A0C-A832-B97D-5D1A24BAF7D3}"/>
              </a:ext>
            </a:extLst>
          </p:cNvPr>
          <p:cNvSpPr txBox="1"/>
          <p:nvPr/>
        </p:nvSpPr>
        <p:spPr>
          <a:xfrm>
            <a:off x="5842000" y="5138382"/>
            <a:ext cx="38680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label (currently not showing any text)</a:t>
            </a:r>
          </a:p>
        </p:txBody>
      </p:sp>
    </p:spTree>
    <p:extLst>
      <p:ext uri="{BB962C8B-B14F-4D97-AF65-F5344CB8AC3E}">
        <p14:creationId xmlns:p14="http://schemas.microsoft.com/office/powerpoint/2010/main" val="24139899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53939-A09A-FD07-F411-9ACE20909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Layout of GUI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B6493-DC55-6792-4CB3-CA44CD7F60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913" y="1535583"/>
            <a:ext cx="10515600" cy="4351338"/>
          </a:xfrm>
        </p:spPr>
        <p:txBody>
          <a:bodyPr>
            <a:normAutofit/>
          </a:bodyPr>
          <a:lstStyle/>
          <a:p>
            <a:r>
              <a:rPr lang="en-CA" sz="2400" dirty="0"/>
              <a:t>Vertical box (</a:t>
            </a:r>
            <a:r>
              <a:rPr lang="en-CA" sz="2400" dirty="0" err="1">
                <a:solidFill>
                  <a:srgbClr val="00B050"/>
                </a:solidFill>
              </a:rPr>
              <a:t>VBox</a:t>
            </a:r>
            <a:r>
              <a:rPr lang="en-CA" sz="2400" dirty="0"/>
              <a:t>) for layout container:</a:t>
            </a:r>
          </a:p>
          <a:p>
            <a:pPr lvl="1"/>
            <a:r>
              <a:rPr lang="en-CA" sz="2000" dirty="0"/>
              <a:t>I put the labels and </a:t>
            </a:r>
            <a:r>
              <a:rPr lang="en-CA" sz="2000" dirty="0" err="1"/>
              <a:t>textfields</a:t>
            </a:r>
            <a:r>
              <a:rPr lang="en-CA" sz="2000" dirty="0"/>
              <a:t> and button below each other.</a:t>
            </a:r>
          </a:p>
          <a:p>
            <a:pPr lvl="1"/>
            <a:r>
              <a:rPr lang="en-CA" sz="2000" dirty="0"/>
              <a:t>I put 5 pixels space between them.</a:t>
            </a:r>
          </a:p>
          <a:p>
            <a:pPr lvl="1"/>
            <a:endParaRPr lang="en-CA" sz="2000" dirty="0"/>
          </a:p>
          <a:p>
            <a:pPr lvl="1"/>
            <a:endParaRPr lang="en-CA" sz="2000" dirty="0"/>
          </a:p>
          <a:p>
            <a:pPr lvl="1"/>
            <a:endParaRPr lang="en-CA" sz="2000" dirty="0"/>
          </a:p>
          <a:p>
            <a:r>
              <a:rPr lang="en-CA" sz="2400" dirty="0"/>
              <a:t>Padding (gap) around the box: 15 pixels</a:t>
            </a:r>
          </a:p>
          <a:p>
            <a:endParaRPr lang="en-CA" sz="2400" dirty="0"/>
          </a:p>
          <a:p>
            <a:endParaRPr lang="en-CA" sz="2400" dirty="0"/>
          </a:p>
          <a:p>
            <a:r>
              <a:rPr lang="en-CA" sz="2400" dirty="0"/>
              <a:t>Add extra space (20 pixels) above the button: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A648ED-7FC3-9DED-6333-99A8E0C9B0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937" y="3031802"/>
            <a:ext cx="10281313" cy="4888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D5C94D3-5755-61E9-2192-8CF64B77B5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937" y="2698440"/>
            <a:ext cx="2933131" cy="26589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2082CFD-D849-5D28-2F75-DA6E0093D6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6937" y="4305447"/>
            <a:ext cx="3239163" cy="45102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6468D52-8ED7-B22B-76EB-D0E93BF7D8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9780" y="5846276"/>
            <a:ext cx="5137813" cy="46928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72219C5-CA3B-5FBE-B6E1-1BAC92740F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44243" y="3908639"/>
            <a:ext cx="2892413" cy="2370681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802C09B-4C83-5317-33FA-A6D789772CEC}"/>
              </a:ext>
            </a:extLst>
          </p:cNvPr>
          <p:cNvCxnSpPr>
            <a:cxnSpLocks/>
          </p:cNvCxnSpPr>
          <p:nvPr/>
        </p:nvCxnSpPr>
        <p:spPr>
          <a:xfrm>
            <a:off x="7931150" y="4469543"/>
            <a:ext cx="56943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2BB1154-0C12-F7F9-DEC6-D822C8C43CA4}"/>
              </a:ext>
            </a:extLst>
          </p:cNvPr>
          <p:cNvCxnSpPr>
            <a:cxnSpLocks/>
          </p:cNvCxnSpPr>
          <p:nvPr/>
        </p:nvCxnSpPr>
        <p:spPr>
          <a:xfrm>
            <a:off x="7931149" y="4679093"/>
            <a:ext cx="56943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17D3076-D8AD-86BE-2C5C-73407A98F209}"/>
              </a:ext>
            </a:extLst>
          </p:cNvPr>
          <p:cNvCxnSpPr>
            <a:cxnSpLocks/>
          </p:cNvCxnSpPr>
          <p:nvPr/>
        </p:nvCxnSpPr>
        <p:spPr>
          <a:xfrm>
            <a:off x="7931148" y="4933093"/>
            <a:ext cx="56943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0251BE8-8194-0FAF-962B-04D87ED1DDC9}"/>
              </a:ext>
            </a:extLst>
          </p:cNvPr>
          <p:cNvCxnSpPr>
            <a:cxnSpLocks/>
          </p:cNvCxnSpPr>
          <p:nvPr/>
        </p:nvCxnSpPr>
        <p:spPr>
          <a:xfrm>
            <a:off x="7931148" y="5174393"/>
            <a:ext cx="56943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3B969B4-608A-8468-33FA-BF899593CC4B}"/>
              </a:ext>
            </a:extLst>
          </p:cNvPr>
          <p:cNvCxnSpPr>
            <a:cxnSpLocks/>
          </p:cNvCxnSpPr>
          <p:nvPr/>
        </p:nvCxnSpPr>
        <p:spPr>
          <a:xfrm>
            <a:off x="7931148" y="5606193"/>
            <a:ext cx="56943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" name="Picture 19">
            <a:extLst>
              <a:ext uri="{FF2B5EF4-FFF2-40B4-BE49-F238E27FC236}">
                <a16:creationId xmlns:a16="http://schemas.microsoft.com/office/drawing/2014/main" id="{FA1E8022-E8E4-566E-3578-EADCA2AD0AC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6937" y="5496640"/>
            <a:ext cx="3052454" cy="210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6693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217CF-A212-8015-8D4D-3F174B5B8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Size and title of window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940928-0A02-69F3-0780-BE14E65BEC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750" y="1690688"/>
            <a:ext cx="10515600" cy="4351338"/>
          </a:xfrm>
        </p:spPr>
        <p:txBody>
          <a:bodyPr/>
          <a:lstStyle/>
          <a:p>
            <a:r>
              <a:rPr lang="en-CA" dirty="0"/>
              <a:t>Make an object of class Scene with size 300 pixels (horizontal) and 200 pixels (vertical)</a:t>
            </a:r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r>
              <a:rPr lang="en-CA" dirty="0"/>
              <a:t>Title of window:</a:t>
            </a:r>
          </a:p>
          <a:p>
            <a:endParaRPr lang="en-CA" dirty="0"/>
          </a:p>
          <a:p>
            <a:endParaRPr lang="en-CA" dirty="0"/>
          </a:p>
          <a:p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81D5C7-5A75-7841-C1FC-C92C84170A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507" y="2986698"/>
            <a:ext cx="3664243" cy="5163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91CE72A-3BDF-6609-3EB3-70B213E5E6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507" y="2632418"/>
            <a:ext cx="2686343" cy="2320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23CD539-EACE-20A0-1557-E889397FD9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2707" y="4730078"/>
            <a:ext cx="3994443" cy="52979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7ED6818-0CEF-0F3D-E998-38B51F741E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6468" y="3671345"/>
            <a:ext cx="2892413" cy="2370681"/>
          </a:xfrm>
          <a:prstGeom prst="rect">
            <a:avLst/>
          </a:prstGeom>
        </p:spPr>
      </p:pic>
      <p:sp>
        <p:nvSpPr>
          <p:cNvPr id="13" name="Left Brace 12">
            <a:extLst>
              <a:ext uri="{FF2B5EF4-FFF2-40B4-BE49-F238E27FC236}">
                <a16:creationId xmlns:a16="http://schemas.microsoft.com/office/drawing/2014/main" id="{E843CC05-2E28-9AD2-FAB7-23ADB57DA11D}"/>
              </a:ext>
            </a:extLst>
          </p:cNvPr>
          <p:cNvSpPr/>
          <p:nvPr/>
        </p:nvSpPr>
        <p:spPr>
          <a:xfrm>
            <a:off x="7457922" y="3671345"/>
            <a:ext cx="158369" cy="2370681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Left Brace 13">
            <a:extLst>
              <a:ext uri="{FF2B5EF4-FFF2-40B4-BE49-F238E27FC236}">
                <a16:creationId xmlns:a16="http://schemas.microsoft.com/office/drawing/2014/main" id="{86E2A327-3253-954F-4A35-BC5BB84568E9}"/>
              </a:ext>
            </a:extLst>
          </p:cNvPr>
          <p:cNvSpPr/>
          <p:nvPr/>
        </p:nvSpPr>
        <p:spPr>
          <a:xfrm rot="5400000">
            <a:off x="9205998" y="2000083"/>
            <a:ext cx="133349" cy="2892412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1FCEC6-F851-47D3-90B2-A4EFE94BBF28}"/>
              </a:ext>
            </a:extLst>
          </p:cNvPr>
          <p:cNvSpPr txBox="1"/>
          <p:nvPr/>
        </p:nvSpPr>
        <p:spPr>
          <a:xfrm>
            <a:off x="8626320" y="2980729"/>
            <a:ext cx="11780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300 pixels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DE99591-124F-664B-EA9E-93383F09A4FB}"/>
              </a:ext>
            </a:extLst>
          </p:cNvPr>
          <p:cNvSpPr txBox="1"/>
          <p:nvPr/>
        </p:nvSpPr>
        <p:spPr>
          <a:xfrm>
            <a:off x="6317906" y="4672019"/>
            <a:ext cx="11780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200 pixels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2CA8B66-6DC0-AB55-5E49-0C34E33EB9ED}"/>
              </a:ext>
            </a:extLst>
          </p:cNvPr>
          <p:cNvCxnSpPr>
            <a:cxnSpLocks/>
          </p:cNvCxnSpPr>
          <p:nvPr/>
        </p:nvCxnSpPr>
        <p:spPr>
          <a:xfrm>
            <a:off x="6753070" y="3182763"/>
            <a:ext cx="1352550" cy="6096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08C8FFB6-39B4-E170-8484-85F64C407A41}"/>
              </a:ext>
            </a:extLst>
          </p:cNvPr>
          <p:cNvSpPr txBox="1"/>
          <p:nvPr/>
        </p:nvSpPr>
        <p:spPr>
          <a:xfrm>
            <a:off x="5486107" y="2844010"/>
            <a:ext cx="1663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Title of window</a:t>
            </a:r>
          </a:p>
        </p:txBody>
      </p:sp>
    </p:spTree>
    <p:extLst>
      <p:ext uri="{BB962C8B-B14F-4D97-AF65-F5344CB8AC3E}">
        <p14:creationId xmlns:p14="http://schemas.microsoft.com/office/powerpoint/2010/main" val="42161878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3E7AA-2720-A5D1-B3B7-D609F8836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Icon for the window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82D82B-248B-0FE7-BE66-F289E619E3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Icon of the window</a:t>
            </a:r>
          </a:p>
          <a:p>
            <a:endParaRPr lang="en-CA" dirty="0"/>
          </a:p>
          <a:p>
            <a:pPr marL="0" indent="0">
              <a:buNone/>
            </a:pPr>
            <a:endParaRPr lang="en-CA" dirty="0"/>
          </a:p>
          <a:p>
            <a:r>
              <a:rPr lang="en-CA" dirty="0"/>
              <a:t>I downloaded the icon from Internet:</a:t>
            </a:r>
            <a:br>
              <a:rPr lang="en-CA" dirty="0"/>
            </a:br>
            <a:r>
              <a:rPr lang="en-CA" sz="1800" dirty="0">
                <a:hlinkClick r:id="rId2"/>
              </a:rPr>
              <a:t>https://www.flaticon.com/free-icons/finance</a:t>
            </a:r>
            <a:endParaRPr lang="en-CA" dirty="0"/>
          </a:p>
          <a:p>
            <a:pPr marL="0" indent="0">
              <a:buNone/>
            </a:pPr>
            <a:endParaRPr lang="en-CA" dirty="0"/>
          </a:p>
          <a:p>
            <a:r>
              <a:rPr lang="en-CA" dirty="0"/>
              <a:t>Set the scene for the stage and show the stage: </a:t>
            </a:r>
          </a:p>
          <a:p>
            <a:endParaRPr lang="en-CA" dirty="0"/>
          </a:p>
          <a:p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629F97-81BD-6C57-612B-0DFB081983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552" y="2649982"/>
            <a:ext cx="7531896" cy="4707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CCC6DEB-BD05-B461-3F4F-B322157886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8552" y="5186634"/>
            <a:ext cx="2876951" cy="13432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25F0D7D-F69E-78E9-2E94-7A9BC2D3AC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64270" y="4001294"/>
            <a:ext cx="2892413" cy="2370681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66424D3-2192-7B5D-D8AE-8521D70287AE}"/>
              </a:ext>
            </a:extLst>
          </p:cNvPr>
          <p:cNvCxnSpPr>
            <a:cxnSpLocks/>
          </p:cNvCxnSpPr>
          <p:nvPr/>
        </p:nvCxnSpPr>
        <p:spPr>
          <a:xfrm>
            <a:off x="9232710" y="3746310"/>
            <a:ext cx="0" cy="3394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1BC0765-F738-A35F-AE26-7BCE7504AECC}"/>
              </a:ext>
            </a:extLst>
          </p:cNvPr>
          <p:cNvSpPr txBox="1"/>
          <p:nvPr/>
        </p:nvSpPr>
        <p:spPr>
          <a:xfrm>
            <a:off x="8394499" y="3380619"/>
            <a:ext cx="16764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Icon of window</a:t>
            </a:r>
          </a:p>
        </p:txBody>
      </p:sp>
      <p:pic>
        <p:nvPicPr>
          <p:cNvPr id="16" name="Picture 15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02D00C45-39A5-0486-23E1-E54890E60D2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2237" y="3246962"/>
            <a:ext cx="998695" cy="99869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D951E0F-EFD9-C97C-B485-FB918392C34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68552" y="2316859"/>
            <a:ext cx="3372321" cy="238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3058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4A3C5-04A5-C81D-FFE9-88A00D083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Event handling for the button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E48D3C-CF64-FF13-87C3-DBDBD3BA3A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5425"/>
            <a:ext cx="10515600" cy="4351338"/>
          </a:xfrm>
        </p:spPr>
        <p:txBody>
          <a:bodyPr>
            <a:normAutofit/>
          </a:bodyPr>
          <a:lstStyle/>
          <a:p>
            <a:r>
              <a:rPr lang="en-CA" sz="2400" dirty="0">
                <a:solidFill>
                  <a:srgbClr val="00B050"/>
                </a:solidFill>
              </a:rPr>
              <a:t>Event</a:t>
            </a:r>
            <a:r>
              <a:rPr lang="en-CA" sz="2400" dirty="0"/>
              <a:t> handling for the </a:t>
            </a:r>
            <a:r>
              <a:rPr lang="en-CA" sz="2400" dirty="0">
                <a:solidFill>
                  <a:srgbClr val="00B050"/>
                </a:solidFill>
              </a:rPr>
              <a:t>button</a:t>
            </a:r>
            <a:r>
              <a:rPr lang="en-CA" sz="2400" dirty="0"/>
              <a:t>:</a:t>
            </a:r>
          </a:p>
          <a:p>
            <a:pPr lvl="1"/>
            <a:r>
              <a:rPr lang="en-CA" sz="2000" dirty="0"/>
              <a:t>Read the entered numbers in the </a:t>
            </a:r>
            <a:r>
              <a:rPr lang="en-CA" sz="2000" dirty="0">
                <a:solidFill>
                  <a:srgbClr val="00B050"/>
                </a:solidFill>
              </a:rPr>
              <a:t>wholesale </a:t>
            </a:r>
            <a:r>
              <a:rPr lang="en-CA" sz="2000" dirty="0" err="1">
                <a:solidFill>
                  <a:srgbClr val="00B050"/>
                </a:solidFill>
              </a:rPr>
              <a:t>textfield</a:t>
            </a:r>
            <a:r>
              <a:rPr lang="en-CA" sz="2000" dirty="0">
                <a:solidFill>
                  <a:srgbClr val="00B050"/>
                </a:solidFill>
              </a:rPr>
              <a:t> </a:t>
            </a:r>
            <a:r>
              <a:rPr lang="en-CA" sz="2000" dirty="0"/>
              <a:t>and </a:t>
            </a:r>
            <a:r>
              <a:rPr lang="en-CA" sz="2000" dirty="0">
                <a:solidFill>
                  <a:srgbClr val="00B050"/>
                </a:solidFill>
              </a:rPr>
              <a:t>markup text field</a:t>
            </a:r>
          </a:p>
          <a:p>
            <a:pPr lvl="1"/>
            <a:r>
              <a:rPr lang="en-CA" sz="2000" dirty="0">
                <a:solidFill>
                  <a:srgbClr val="00B050"/>
                </a:solidFill>
              </a:rPr>
              <a:t>Calculate</a:t>
            </a:r>
            <a:r>
              <a:rPr lang="en-CA" sz="2000" dirty="0"/>
              <a:t> the retail price</a:t>
            </a:r>
          </a:p>
          <a:p>
            <a:pPr lvl="1"/>
            <a:r>
              <a:rPr lang="en-CA" sz="2000" dirty="0"/>
              <a:t>Set the text of </a:t>
            </a:r>
            <a:r>
              <a:rPr lang="en-CA" sz="2000" dirty="0">
                <a:solidFill>
                  <a:srgbClr val="00B050"/>
                </a:solidFill>
              </a:rPr>
              <a:t>retail price label</a:t>
            </a:r>
          </a:p>
          <a:p>
            <a:r>
              <a:rPr lang="en-CA" sz="2400" dirty="0">
                <a:solidFill>
                  <a:srgbClr val="00B050"/>
                </a:solidFill>
              </a:rPr>
              <a:t>Exception handling:</a:t>
            </a:r>
          </a:p>
          <a:p>
            <a:pPr lvl="1"/>
            <a:r>
              <a:rPr lang="en-CA" sz="2000" dirty="0"/>
              <a:t>If the user does </a:t>
            </a:r>
            <a:r>
              <a:rPr lang="en-CA" sz="2000" u="sng" dirty="0"/>
              <a:t>not enter valid numbers </a:t>
            </a:r>
            <a:r>
              <a:rPr lang="en-CA" sz="2000" dirty="0"/>
              <a:t>in </a:t>
            </a:r>
            <a:r>
              <a:rPr lang="en-CA" sz="2000" dirty="0">
                <a:solidFill>
                  <a:srgbClr val="00B050"/>
                </a:solidFill>
              </a:rPr>
              <a:t>wholesale </a:t>
            </a:r>
            <a:r>
              <a:rPr lang="en-CA" sz="2000" dirty="0" err="1">
                <a:solidFill>
                  <a:srgbClr val="00B050"/>
                </a:solidFill>
              </a:rPr>
              <a:t>textfield</a:t>
            </a:r>
            <a:r>
              <a:rPr lang="en-CA" sz="2000" dirty="0">
                <a:solidFill>
                  <a:srgbClr val="00B050"/>
                </a:solidFill>
              </a:rPr>
              <a:t> </a:t>
            </a:r>
            <a:r>
              <a:rPr lang="en-CA" sz="2000" dirty="0"/>
              <a:t>and </a:t>
            </a:r>
            <a:r>
              <a:rPr lang="en-CA" sz="2000" dirty="0">
                <a:solidFill>
                  <a:srgbClr val="00B050"/>
                </a:solidFill>
              </a:rPr>
              <a:t>markup text field </a:t>
            </a:r>
          </a:p>
          <a:p>
            <a:pPr lvl="1"/>
            <a:r>
              <a:rPr lang="en-CA" sz="2000" dirty="0"/>
              <a:t>I </a:t>
            </a:r>
            <a:r>
              <a:rPr lang="en-CA" sz="2000" dirty="0">
                <a:solidFill>
                  <a:srgbClr val="00B050"/>
                </a:solidFill>
              </a:rPr>
              <a:t>catch</a:t>
            </a:r>
            <a:r>
              <a:rPr lang="en-CA" sz="2000" dirty="0"/>
              <a:t> it and set the text of retail price label to: “Please enter valid numbers.”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ACCC54-A204-8D28-4BFE-5FB6334635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8073" y="4210843"/>
            <a:ext cx="5402977" cy="2303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2296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EA084-3D98-4911-6A4C-BE1B92B2F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Main for running the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B0BDE7-D722-28EA-FA3E-6F1B97B106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>
                <a:solidFill>
                  <a:srgbClr val="00B050"/>
                </a:solidFill>
              </a:rPr>
              <a:t>Main</a:t>
            </a:r>
            <a:r>
              <a:rPr lang="en-CA" dirty="0"/>
              <a:t> for running the code and launch the GUI</a:t>
            </a:r>
          </a:p>
          <a:p>
            <a:pPr lvl="1"/>
            <a:r>
              <a:rPr lang="en-CA" dirty="0"/>
              <a:t>The method </a:t>
            </a:r>
            <a:r>
              <a:rPr lang="en-CA" dirty="0">
                <a:solidFill>
                  <a:srgbClr val="00B050"/>
                </a:solidFill>
              </a:rPr>
              <a:t>launch() </a:t>
            </a:r>
            <a:r>
              <a:rPr lang="en-CA" dirty="0"/>
              <a:t>is in the class </a:t>
            </a:r>
            <a:r>
              <a:rPr lang="en-CA" dirty="0">
                <a:solidFill>
                  <a:srgbClr val="00B050"/>
                </a:solidFill>
              </a:rPr>
              <a:t>Application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33EB20-6594-A0CE-FA5B-E9F65483AC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223" y="2883577"/>
            <a:ext cx="4315427" cy="838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766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27F15-FCF9-4364-EA9E-1F4763FD6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 few example runs of the program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A183B0-3DE2-4BA9-1487-77959B4BE9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2031" y="1744187"/>
            <a:ext cx="2500818" cy="20329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BDE49DA-953B-3DD1-1C9D-78D6FF9F5C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0490" y="1744187"/>
            <a:ext cx="2522622" cy="202941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A8CDCE3-F64C-1745-923C-0B2FBE2ED7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0133" y="1744187"/>
            <a:ext cx="2500818" cy="202941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08FCEDA-DA89-F850-47A1-BF56346166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8348" y="4334557"/>
            <a:ext cx="2497135" cy="203292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A62C18E-245D-322D-A126-C289024047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5977" y="4320931"/>
            <a:ext cx="2497135" cy="203798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C659CDC-085B-923F-FF55-8DC63B5AB63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90133" y="4320932"/>
            <a:ext cx="2497135" cy="203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5245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545</Words>
  <Application>Microsoft Office PowerPoint</Application>
  <PresentationFormat>Widescreen</PresentationFormat>
  <Paragraphs>104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Retail Price Calculator</vt:lpstr>
      <vt:lpstr>Question of the project:</vt:lpstr>
      <vt:lpstr>Outline</vt:lpstr>
      <vt:lpstr>The final GUI appearance</vt:lpstr>
      <vt:lpstr>Creating the class</vt:lpstr>
      <vt:lpstr>Overriding the method</vt:lpstr>
      <vt:lpstr>Label and text field for wholesale</vt:lpstr>
      <vt:lpstr>Label and text field for markup</vt:lpstr>
      <vt:lpstr>Button for calculate</vt:lpstr>
      <vt:lpstr>Label for result of calculation (retail price)</vt:lpstr>
      <vt:lpstr>Layout of GUI</vt:lpstr>
      <vt:lpstr>Size and title of window</vt:lpstr>
      <vt:lpstr>Icon for the window</vt:lpstr>
      <vt:lpstr>Event handling for the button</vt:lpstr>
      <vt:lpstr>Main for running the code</vt:lpstr>
      <vt:lpstr>A few example runs of the program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2025-03-25T19:32:01Z</dcterms:created>
  <dcterms:modified xsi:type="dcterms:W3CDTF">2025-03-27T14:36:57Z</dcterms:modified>
</cp:coreProperties>
</file>